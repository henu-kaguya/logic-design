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114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484E8-BD20-4840-8827-5506C70D8775}" type="datetimeFigureOut">
              <a:rPr lang="en-CA" smtClean="0"/>
              <a:t>2018-03-19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78A2-6418-456A-AD2B-C347D6F72D7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537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484E8-BD20-4840-8827-5506C70D8775}" type="datetimeFigureOut">
              <a:rPr lang="en-CA" smtClean="0"/>
              <a:t>2018-03-19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78A2-6418-456A-AD2B-C347D6F72D7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2093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484E8-BD20-4840-8827-5506C70D8775}" type="datetimeFigureOut">
              <a:rPr lang="en-CA" smtClean="0"/>
              <a:t>2018-03-19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78A2-6418-456A-AD2B-C347D6F72D7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548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484E8-BD20-4840-8827-5506C70D8775}" type="datetimeFigureOut">
              <a:rPr lang="en-CA" smtClean="0"/>
              <a:t>2018-03-19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78A2-6418-456A-AD2B-C347D6F72D7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33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484E8-BD20-4840-8827-5506C70D8775}" type="datetimeFigureOut">
              <a:rPr lang="en-CA" smtClean="0"/>
              <a:t>2018-03-19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78A2-6418-456A-AD2B-C347D6F72D7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932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484E8-BD20-4840-8827-5506C70D8775}" type="datetimeFigureOut">
              <a:rPr lang="en-CA" smtClean="0"/>
              <a:t>2018-03-19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78A2-6418-456A-AD2B-C347D6F72D7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2984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484E8-BD20-4840-8827-5506C70D8775}" type="datetimeFigureOut">
              <a:rPr lang="en-CA" smtClean="0"/>
              <a:t>2018-03-19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78A2-6418-456A-AD2B-C347D6F72D7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80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484E8-BD20-4840-8827-5506C70D8775}" type="datetimeFigureOut">
              <a:rPr lang="en-CA" smtClean="0"/>
              <a:t>2018-03-19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78A2-6418-456A-AD2B-C347D6F72D7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9846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484E8-BD20-4840-8827-5506C70D8775}" type="datetimeFigureOut">
              <a:rPr lang="en-CA" smtClean="0"/>
              <a:t>2018-03-19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78A2-6418-456A-AD2B-C347D6F72D7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3857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484E8-BD20-4840-8827-5506C70D8775}" type="datetimeFigureOut">
              <a:rPr lang="en-CA" smtClean="0"/>
              <a:t>2018-03-19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78A2-6418-456A-AD2B-C347D6F72D7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0982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484E8-BD20-4840-8827-5506C70D8775}" type="datetimeFigureOut">
              <a:rPr lang="en-CA" smtClean="0"/>
              <a:t>2018-03-19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778A2-6418-456A-AD2B-C347D6F72D7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1254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484E8-BD20-4840-8827-5506C70D8775}" type="datetimeFigureOut">
              <a:rPr lang="en-CA" smtClean="0"/>
              <a:t>2018-03-19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778A2-6418-456A-AD2B-C347D6F72D7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523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7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7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8.wdp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324" y="2852382"/>
            <a:ext cx="11050878" cy="1475474"/>
          </a:xfrm>
        </p:spPr>
        <p:txBody>
          <a:bodyPr>
            <a:normAutofit fontScale="90000"/>
          </a:bodyPr>
          <a:lstStyle/>
          <a:p>
            <a:pPr>
              <a:spcBef>
                <a:spcPts val="3600"/>
              </a:spcBef>
              <a:spcAft>
                <a:spcPts val="600"/>
              </a:spcAft>
            </a:pPr>
            <a:r>
              <a:rPr lang="en-CA" sz="8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Fundamental Logic Design</a:t>
            </a:r>
            <a:r>
              <a:rPr lang="en-CA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CA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CA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CA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CA" sz="3200" dirty="0" smtClean="0"/>
              <a:t>Chapter </a:t>
            </a:r>
            <a:r>
              <a:rPr lang="en-CA" sz="3200" dirty="0" smtClean="0"/>
              <a:t>6</a:t>
            </a:r>
            <a:r>
              <a:rPr lang="en-CA" sz="3200" dirty="0" smtClean="0"/>
              <a:t>: Quine-</a:t>
            </a:r>
            <a:r>
              <a:rPr lang="en-CA" sz="3200" dirty="0" err="1" smtClean="0"/>
              <a:t>McCluskey</a:t>
            </a:r>
            <a:r>
              <a:rPr lang="en-CA" sz="3200" dirty="0" smtClean="0"/>
              <a:t> Method</a:t>
            </a:r>
            <a:br>
              <a:rPr lang="en-CA" sz="3200" dirty="0" smtClean="0"/>
            </a:br>
            <a:r>
              <a:rPr lang="en-CA" sz="3200" dirty="0" smtClean="0"/>
              <a:t/>
            </a:r>
            <a:br>
              <a:rPr lang="en-CA" sz="3200" dirty="0" smtClean="0"/>
            </a:br>
            <a:r>
              <a:rPr lang="en-CA" sz="3200" dirty="0" smtClean="0"/>
              <a:t> </a:t>
            </a:r>
            <a:endParaRPr lang="en-CA" sz="3200" dirty="0"/>
          </a:p>
        </p:txBody>
      </p:sp>
      <p:sp>
        <p:nvSpPr>
          <p:cNvPr id="5" name="Rectangle 4"/>
          <p:cNvSpPr/>
          <p:nvPr/>
        </p:nvSpPr>
        <p:spPr>
          <a:xfrm>
            <a:off x="105829" y="6346309"/>
            <a:ext cx="37888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A" sz="2000" dirty="0" smtClean="0"/>
              <a:t>Miami College of Henan University</a:t>
            </a:r>
            <a:endParaRPr lang="en-CA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24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3415" y="1175663"/>
            <a:ext cx="10783294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600" b="1" i="1" dirty="0" smtClean="0">
                <a:ea typeface="Verdana" pitchFamily="34" charset="0"/>
                <a:cs typeface="Verdana" pitchFamily="34" charset="0"/>
              </a:rPr>
              <a:t>This chapter includes:</a:t>
            </a:r>
            <a:endParaRPr lang="en-US" sz="3600" strike="sngStrike" dirty="0" smtClean="0">
              <a:ea typeface="Verdana" pitchFamily="34" charset="0"/>
              <a:cs typeface="Verdana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3200" dirty="0" smtClean="0">
                <a:ea typeface="Verdana" pitchFamily="34" charset="0"/>
                <a:cs typeface="Verdana" pitchFamily="34" charset="0"/>
              </a:rPr>
              <a:t>6.1	Determination of Prime </a:t>
            </a:r>
            <a:r>
              <a:rPr lang="en-US" sz="3200" dirty="0" err="1" smtClean="0">
                <a:ea typeface="Verdana" pitchFamily="34" charset="0"/>
                <a:cs typeface="Verdana" pitchFamily="34" charset="0"/>
              </a:rPr>
              <a:t>Implicants</a:t>
            </a:r>
            <a:endParaRPr lang="en-US" sz="3200" dirty="0" smtClean="0">
              <a:ea typeface="Verdana" pitchFamily="34" charset="0"/>
              <a:cs typeface="Verdana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3200" dirty="0" smtClean="0">
                <a:ea typeface="Verdana" pitchFamily="34" charset="0"/>
                <a:cs typeface="Verdana" pitchFamily="34" charset="0"/>
              </a:rPr>
              <a:t>6.2	The Prime </a:t>
            </a:r>
            <a:r>
              <a:rPr lang="en-US" sz="3200" dirty="0" err="1" smtClean="0">
                <a:ea typeface="Verdana" pitchFamily="34" charset="0"/>
                <a:cs typeface="Verdana" pitchFamily="34" charset="0"/>
              </a:rPr>
              <a:t>Implicant</a:t>
            </a:r>
            <a:r>
              <a:rPr lang="en-US" sz="3200" dirty="0" smtClean="0">
                <a:ea typeface="Verdana" pitchFamily="34" charset="0"/>
                <a:cs typeface="Verdana" pitchFamily="34" charset="0"/>
              </a:rPr>
              <a:t> Chart</a:t>
            </a:r>
          </a:p>
          <a:p>
            <a:pPr>
              <a:spcAft>
                <a:spcPts val="1200"/>
              </a:spcAft>
            </a:pPr>
            <a:r>
              <a:rPr lang="en-US" sz="3200" dirty="0" smtClean="0">
                <a:ea typeface="Verdana" pitchFamily="34" charset="0"/>
                <a:cs typeface="Verdana" pitchFamily="34" charset="0"/>
              </a:rPr>
              <a:t>6.3	</a:t>
            </a:r>
            <a:r>
              <a:rPr lang="en-US" sz="3200" dirty="0" err="1" smtClean="0">
                <a:ea typeface="Verdana" pitchFamily="34" charset="0"/>
                <a:cs typeface="Verdana" pitchFamily="34" charset="0"/>
              </a:rPr>
              <a:t>Petrick’s</a:t>
            </a:r>
            <a:r>
              <a:rPr lang="en-US" sz="3200" dirty="0" smtClean="0">
                <a:ea typeface="Verdana" pitchFamily="34" charset="0"/>
                <a:cs typeface="Verdana" pitchFamily="34" charset="0"/>
              </a:rPr>
              <a:t> Method</a:t>
            </a:r>
          </a:p>
          <a:p>
            <a:pPr>
              <a:spcAft>
                <a:spcPts val="1200"/>
              </a:spcAft>
            </a:pPr>
            <a:r>
              <a:rPr lang="en-US" sz="3200" dirty="0" smtClean="0">
                <a:ea typeface="Verdana" pitchFamily="34" charset="0"/>
                <a:cs typeface="Verdana" pitchFamily="34" charset="0"/>
              </a:rPr>
              <a:t>6.4</a:t>
            </a:r>
            <a:r>
              <a:rPr lang="en-US" sz="3200" dirty="0" smtClean="0">
                <a:ea typeface="Verdana" pitchFamily="34" charset="0"/>
                <a:cs typeface="Verdana" pitchFamily="34" charset="0"/>
              </a:rPr>
              <a:t>	Simplification of Incompletely Specified </a:t>
            </a:r>
            <a:r>
              <a:rPr lang="en-US" sz="3200" dirty="0" smtClean="0">
                <a:ea typeface="Verdana" pitchFamily="34" charset="0"/>
                <a:cs typeface="Verdana" pitchFamily="34" charset="0"/>
              </a:rPr>
              <a:t>Functions</a:t>
            </a:r>
            <a:endParaRPr lang="en-US" sz="3200" dirty="0" smtClean="0">
              <a:ea typeface="Verdana" pitchFamily="34" charset="0"/>
              <a:cs typeface="Verdana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3200" dirty="0" smtClean="0">
                <a:ea typeface="Verdana" pitchFamily="34" charset="0"/>
                <a:cs typeface="Verdana" pitchFamily="34" charset="0"/>
              </a:rPr>
              <a:t>6.5	Simplification Using Map-Entered </a:t>
            </a:r>
            <a:r>
              <a:rPr lang="en-US" sz="3200" dirty="0" smtClean="0">
                <a:ea typeface="Verdana" pitchFamily="34" charset="0"/>
                <a:cs typeface="Verdana" pitchFamily="34" charset="0"/>
              </a:rPr>
              <a:t>Variables</a:t>
            </a:r>
            <a:endParaRPr lang="en-US" sz="3200" dirty="0" smtClean="0">
              <a:ea typeface="Verdana" pitchFamily="34" charset="0"/>
              <a:cs typeface="Verdana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3200" dirty="0" smtClean="0">
                <a:ea typeface="Verdana" pitchFamily="34" charset="0"/>
                <a:cs typeface="Verdana" pitchFamily="34" charset="0"/>
              </a:rPr>
              <a:t>6.6	Conclusion</a:t>
            </a:r>
          </a:p>
          <a:p>
            <a:endParaRPr lang="en-US" sz="2800" dirty="0" smtClean="0">
              <a:ea typeface="Verdana" pitchFamily="34" charset="0"/>
              <a:cs typeface="Verdana" pitchFamily="34" charset="0"/>
            </a:endParaRPr>
          </a:p>
          <a:p>
            <a:endParaRPr lang="en-US" sz="2800" dirty="0" smtClean="0"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75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138730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Learning Objectives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44379" y="1363006"/>
            <a:ext cx="11177599" cy="5376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 smtClean="0"/>
              <a:t>Find the prime </a:t>
            </a:r>
            <a:r>
              <a:rPr lang="en-US" sz="3200" dirty="0" err="1" smtClean="0"/>
              <a:t>implicants</a:t>
            </a:r>
            <a:r>
              <a:rPr lang="en-US" sz="3200" dirty="0" smtClean="0"/>
              <a:t> of a function by using the Quine-</a:t>
            </a:r>
            <a:r>
              <a:rPr lang="en-US" sz="3200" dirty="0" err="1" smtClean="0"/>
              <a:t>McCluskey</a:t>
            </a:r>
            <a:r>
              <a:rPr lang="en-US" sz="3200" dirty="0" smtClean="0"/>
              <a:t> method. Explain the reasons for the procedures used.</a:t>
            </a:r>
          </a:p>
          <a:p>
            <a:pPr algn="just"/>
            <a:r>
              <a:rPr lang="en-US" sz="3200" dirty="0" smtClean="0"/>
              <a:t>Define </a:t>
            </a:r>
            <a:r>
              <a:rPr lang="en-US" sz="3200" i="1" dirty="0" smtClean="0"/>
              <a:t>prime </a:t>
            </a:r>
            <a:r>
              <a:rPr lang="en-US" sz="3200" i="1" dirty="0" err="1" smtClean="0"/>
              <a:t>implicant</a:t>
            </a:r>
            <a:r>
              <a:rPr lang="en-US" sz="3200" i="1" dirty="0" smtClean="0"/>
              <a:t> and essential prime </a:t>
            </a:r>
            <a:r>
              <a:rPr lang="en-US" sz="3200" i="1" dirty="0" err="1" smtClean="0"/>
              <a:t>implicant</a:t>
            </a:r>
            <a:r>
              <a:rPr lang="en-US" sz="3200" i="1" dirty="0" smtClean="0"/>
              <a:t>.</a:t>
            </a:r>
          </a:p>
          <a:p>
            <a:pPr algn="just"/>
            <a:r>
              <a:rPr lang="en-US" sz="3200" dirty="0" smtClean="0"/>
              <a:t>Given the prime </a:t>
            </a:r>
            <a:r>
              <a:rPr lang="en-US" sz="3200" dirty="0" err="1" smtClean="0"/>
              <a:t>implicants</a:t>
            </a:r>
            <a:r>
              <a:rPr lang="en-US" sz="3200" dirty="0" smtClean="0"/>
              <a:t>, find the essential prime </a:t>
            </a:r>
            <a:r>
              <a:rPr lang="en-US" sz="3200" dirty="0" err="1" smtClean="0"/>
              <a:t>implicants</a:t>
            </a:r>
            <a:r>
              <a:rPr lang="en-US" sz="3200" dirty="0" smtClean="0"/>
              <a:t> and a minimum sum-of-products expression for a function, using a prime </a:t>
            </a:r>
            <a:r>
              <a:rPr lang="en-US" sz="3200" dirty="0" err="1" smtClean="0"/>
              <a:t>implicant</a:t>
            </a:r>
            <a:r>
              <a:rPr lang="en-US" sz="3200" dirty="0" smtClean="0"/>
              <a:t> chart and using </a:t>
            </a:r>
            <a:r>
              <a:rPr lang="en-US" sz="3200" dirty="0" err="1" smtClean="0"/>
              <a:t>Petrick’s</a:t>
            </a:r>
            <a:r>
              <a:rPr lang="en-US" sz="3200" dirty="0" smtClean="0"/>
              <a:t> method.</a:t>
            </a:r>
          </a:p>
          <a:p>
            <a:pPr algn="just"/>
            <a:r>
              <a:rPr lang="en-US" sz="3200" dirty="0" smtClean="0"/>
              <a:t>Minimize an incompletely specified function, using the Quine-</a:t>
            </a:r>
            <a:r>
              <a:rPr lang="en-US" sz="3200" dirty="0" err="1" smtClean="0"/>
              <a:t>McCluskey</a:t>
            </a:r>
            <a:r>
              <a:rPr lang="en-US" sz="3200" dirty="0" smtClean="0"/>
              <a:t> method.</a:t>
            </a:r>
          </a:p>
          <a:p>
            <a:pPr algn="just"/>
            <a:r>
              <a:rPr lang="en-US" sz="3200" dirty="0" smtClean="0"/>
              <a:t>Find a minimum sum-of-products expression for a function, using the method of map-entered variables.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25837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322095" y="352926"/>
            <a:ext cx="7776972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685800" y="1905000"/>
            <a:ext cx="10639926" cy="39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3600" b="1" dirty="0" smtClean="0"/>
              <a:t>Chapter Introduction:</a:t>
            </a:r>
          </a:p>
          <a:p>
            <a:pPr algn="just">
              <a:spcAft>
                <a:spcPts val="1200"/>
              </a:spcAft>
            </a:pPr>
            <a:r>
              <a:rPr lang="en-US" sz="3200" dirty="0" smtClean="0"/>
              <a:t>The Quine-</a:t>
            </a:r>
            <a:r>
              <a:rPr lang="en-US" sz="3200" dirty="0" err="1" smtClean="0"/>
              <a:t>McCluskey</a:t>
            </a:r>
            <a:r>
              <a:rPr lang="en-US" sz="3200" dirty="0" smtClean="0"/>
              <a:t> method presented in this unit provides a systematic simplification procedure which can be readily programmed for a digital computer.</a:t>
            </a:r>
          </a:p>
          <a:p>
            <a:pPr algn="just"/>
            <a:r>
              <a:rPr lang="en-US" sz="3200" dirty="0" smtClean="0"/>
              <a:t>The Quine-</a:t>
            </a:r>
            <a:r>
              <a:rPr lang="en-US" sz="3200" dirty="0" err="1" smtClean="0"/>
              <a:t>McCluskey</a:t>
            </a:r>
            <a:r>
              <a:rPr lang="en-US" sz="3200" dirty="0" smtClean="0"/>
              <a:t> method reduces the </a:t>
            </a:r>
            <a:r>
              <a:rPr lang="en-US" sz="3200" dirty="0" err="1" smtClean="0"/>
              <a:t>minterm</a:t>
            </a:r>
            <a:r>
              <a:rPr lang="en-US" sz="3200" dirty="0" smtClean="0"/>
              <a:t> expansion (standard sum-of-products form) of a function to obtain a minimum sum of products. 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8180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" y="288758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685800" y="1568115"/>
            <a:ext cx="10478494" cy="45920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3600" b="1" dirty="0" smtClean="0"/>
              <a:t>Chapter Introduction (continued):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lang="en-US" sz="3200" dirty="0" smtClean="0"/>
              <a:t>The Quine-</a:t>
            </a:r>
            <a:r>
              <a:rPr lang="en-US" sz="3200" dirty="0" err="1" smtClean="0"/>
              <a:t>McCluskey</a:t>
            </a:r>
            <a:r>
              <a:rPr lang="en-US" sz="3200" dirty="0" smtClean="0"/>
              <a:t> procedure consists of two main steps:</a:t>
            </a:r>
          </a:p>
          <a:p>
            <a:pPr marL="914400" lvl="1" indent="-457200" algn="just">
              <a:spcAft>
                <a:spcPts val="1200"/>
              </a:spcAft>
              <a:buFont typeface="+mj-lt"/>
              <a:buAutoNum type="arabicPeriod"/>
            </a:pPr>
            <a:r>
              <a:rPr lang="en-US" sz="3200" dirty="0" smtClean="0"/>
              <a:t>Eliminate as many literals as possible from each term by systematically applying the theorem </a:t>
            </a:r>
            <a:r>
              <a:rPr lang="en-US" sz="3200" i="1" dirty="0" smtClean="0"/>
              <a:t>XY + XY = X. The resulting terms are called prime </a:t>
            </a:r>
            <a:r>
              <a:rPr lang="en-US" sz="3200" i="1" dirty="0" err="1" smtClean="0"/>
              <a:t>implicants</a:t>
            </a:r>
            <a:r>
              <a:rPr lang="en-US" sz="3200" i="1" dirty="0" smtClean="0"/>
              <a:t>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3200" dirty="0" smtClean="0"/>
              <a:t>Use a prime </a:t>
            </a:r>
            <a:r>
              <a:rPr lang="en-US" sz="3200" dirty="0" err="1" smtClean="0"/>
              <a:t>implicant</a:t>
            </a:r>
            <a:r>
              <a:rPr lang="en-US" sz="3200" dirty="0" smtClean="0"/>
              <a:t> chart to select a minimum set of prime </a:t>
            </a:r>
            <a:r>
              <a:rPr lang="en-US" sz="3200" dirty="0" err="1" smtClean="0"/>
              <a:t>implicants</a:t>
            </a:r>
            <a:r>
              <a:rPr lang="en-US" sz="3200" dirty="0" smtClean="0"/>
              <a:t> which, when </a:t>
            </a:r>
            <a:r>
              <a:rPr lang="en-US" sz="3200" dirty="0" err="1" smtClean="0"/>
              <a:t>ORed</a:t>
            </a:r>
            <a:r>
              <a:rPr lang="en-US" sz="3200" dirty="0" smtClean="0"/>
              <a:t> together, are equal to the function being simplified and which contain a minimum number of literals.</a:t>
            </a:r>
          </a:p>
          <a:p>
            <a:pPr marL="342900" indent="-342900"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08497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128337"/>
            <a:ext cx="12304294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Determination of Prime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Implicants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27384" y="1335218"/>
            <a:ext cx="10910637" cy="56591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/>
              <a:t>Forming Prime </a:t>
            </a:r>
            <a:r>
              <a:rPr lang="en-US" sz="3600" b="1" dirty="0" err="1" smtClean="0"/>
              <a:t>Implicants</a:t>
            </a:r>
            <a:r>
              <a:rPr lang="en-US" sz="3600" b="1" dirty="0" smtClean="0"/>
              <a:t>:</a:t>
            </a:r>
          </a:p>
          <a:p>
            <a:r>
              <a:rPr lang="en-US" sz="3200" dirty="0" smtClean="0"/>
              <a:t>In the first part of the Quine-</a:t>
            </a:r>
            <a:r>
              <a:rPr lang="en-US" sz="3200" dirty="0" err="1" smtClean="0"/>
              <a:t>McCluskey</a:t>
            </a:r>
            <a:r>
              <a:rPr lang="en-US" sz="3200" dirty="0" smtClean="0"/>
              <a:t> method, all of the prime </a:t>
            </a:r>
            <a:r>
              <a:rPr lang="en-US" sz="3200" dirty="0" err="1" smtClean="0"/>
              <a:t>implicants</a:t>
            </a:r>
            <a:r>
              <a:rPr lang="en-US" sz="3200" dirty="0" smtClean="0"/>
              <a:t> of a function are systematically formed by combining </a:t>
            </a:r>
            <a:r>
              <a:rPr lang="en-US" sz="3200" dirty="0" err="1" smtClean="0"/>
              <a:t>minterms</a:t>
            </a:r>
            <a:r>
              <a:rPr lang="en-US" sz="3200" dirty="0" smtClean="0"/>
              <a:t>. </a:t>
            </a:r>
          </a:p>
          <a:p>
            <a:r>
              <a:rPr lang="en-US" sz="3200" dirty="0" smtClean="0"/>
              <a:t>The </a:t>
            </a:r>
            <a:r>
              <a:rPr lang="en-US" sz="3200" dirty="0" err="1" smtClean="0"/>
              <a:t>minterms</a:t>
            </a:r>
            <a:r>
              <a:rPr lang="en-US" sz="3200" dirty="0" smtClean="0"/>
              <a:t> are represented in binary notation and combined using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3200" dirty="0" smtClean="0"/>
              <a:t>XY+XY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′</a:t>
            </a:r>
            <a:r>
              <a:rPr lang="en-US" sz="3200" dirty="0" smtClean="0"/>
              <a:t>=X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3200" dirty="0" smtClean="0"/>
              <a:t>where X represents a product of literals and Y is a single variable. </a:t>
            </a:r>
          </a:p>
          <a:p>
            <a:r>
              <a:rPr lang="en-US" sz="3200" dirty="0" smtClean="0"/>
              <a:t>Two </a:t>
            </a:r>
            <a:r>
              <a:rPr lang="en-US" sz="3200" dirty="0" err="1" smtClean="0"/>
              <a:t>minterms</a:t>
            </a:r>
            <a:r>
              <a:rPr lang="en-US" sz="3200" dirty="0" smtClean="0"/>
              <a:t> will combine if they differ in exactly one variable.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418604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24092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Determination of Prime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Implicants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320842" y="1084862"/>
            <a:ext cx="11871158" cy="56307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3600" b="1" dirty="0" smtClean="0"/>
              <a:t>Determining Prime </a:t>
            </a:r>
            <a:r>
              <a:rPr lang="en-US" sz="3600" b="1" dirty="0" err="1" smtClean="0"/>
              <a:t>Implicants</a:t>
            </a:r>
            <a:r>
              <a:rPr lang="en-US" sz="3600" b="1" dirty="0" smtClean="0"/>
              <a:t>: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3200" dirty="0" smtClean="0"/>
              <a:t>To reduce the required number of comparisons, the binary </a:t>
            </a:r>
            <a:r>
              <a:rPr lang="en-US" sz="3200" dirty="0" err="1" smtClean="0"/>
              <a:t>minterms</a:t>
            </a:r>
            <a:r>
              <a:rPr lang="en-US" sz="3200" dirty="0" smtClean="0"/>
              <a:t> are sorted into groups according to the number of 1’s in each term. Thus, </a:t>
            </a:r>
          </a:p>
          <a:p>
            <a:pPr algn="just"/>
            <a:endParaRPr lang="en-US" sz="24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566737" y="2614863"/>
            <a:ext cx="8131498" cy="4243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024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172866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Determination of Prime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Implicants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328862" y="1288088"/>
            <a:ext cx="11534275" cy="48106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/>
              <a:t>Determination of Prime </a:t>
            </a:r>
            <a:r>
              <a:rPr lang="en-US" sz="3600" b="1" dirty="0" err="1" smtClean="0"/>
              <a:t>Implicants</a:t>
            </a:r>
            <a:r>
              <a:rPr lang="en-US" sz="3600" b="1" dirty="0" smtClean="0"/>
              <a:t>:</a:t>
            </a:r>
            <a:endParaRPr lang="en-US" sz="36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" y="1819128"/>
            <a:ext cx="11164294" cy="503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4507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187948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Determination of Prime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Implicants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419577" y="1554255"/>
            <a:ext cx="10680549" cy="51613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err="1" smtClean="0"/>
              <a:t>Implicant</a:t>
            </a:r>
            <a:r>
              <a:rPr lang="en-US" sz="3600" b="1" dirty="0" smtClean="0"/>
              <a:t> and Prime </a:t>
            </a:r>
            <a:r>
              <a:rPr lang="en-US" sz="3600" b="1" dirty="0" err="1" smtClean="0"/>
              <a:t>Implicant</a:t>
            </a:r>
            <a:r>
              <a:rPr lang="en-US" sz="3600" b="1" dirty="0" smtClean="0"/>
              <a:t>:</a:t>
            </a:r>
          </a:p>
          <a:p>
            <a:pPr marL="342900" indent="-342900"/>
            <a:endParaRPr lang="en-US" sz="2200" b="1" dirty="0" smtClean="0"/>
          </a:p>
          <a:p>
            <a:pPr marL="342900" indent="-342900"/>
            <a:endParaRPr lang="en-US" sz="2200" b="1" dirty="0" smtClean="0"/>
          </a:p>
          <a:p>
            <a:pPr marL="342900" indent="-342900"/>
            <a:endParaRPr lang="en-US" sz="2200" b="1" dirty="0" smtClean="0"/>
          </a:p>
          <a:p>
            <a:pPr marL="342900" indent="-342900"/>
            <a:endParaRPr lang="en-US" sz="2200" b="1" dirty="0" smtClean="0"/>
          </a:p>
          <a:p>
            <a:pPr marL="342900" indent="-342900"/>
            <a:endParaRPr lang="en-US" sz="2200" b="1" dirty="0" smtClean="0"/>
          </a:p>
          <a:p>
            <a:pPr marL="342900" indent="-342900"/>
            <a:endParaRPr lang="en-US" sz="2200" b="1" dirty="0" smtClean="0"/>
          </a:p>
          <a:p>
            <a:pPr marL="0" indent="0" algn="just">
              <a:buNone/>
            </a:pPr>
            <a:r>
              <a:rPr lang="en-US" sz="3200" dirty="0" smtClean="0"/>
              <a:t>The Quine-</a:t>
            </a:r>
            <a:r>
              <a:rPr lang="en-US" sz="3200" dirty="0" err="1" smtClean="0"/>
              <a:t>McCluskey</a:t>
            </a:r>
            <a:r>
              <a:rPr lang="en-US" sz="3200" dirty="0" smtClean="0"/>
              <a:t> method finds all of the product term </a:t>
            </a:r>
            <a:r>
              <a:rPr lang="en-US" sz="3200" dirty="0" err="1" smtClean="0"/>
              <a:t>implicants</a:t>
            </a:r>
            <a:r>
              <a:rPr lang="en-US" sz="3200" dirty="0" smtClean="0"/>
              <a:t> of a function. The </a:t>
            </a:r>
            <a:r>
              <a:rPr lang="en-US" sz="3200" dirty="0" err="1" smtClean="0"/>
              <a:t>implicants</a:t>
            </a:r>
            <a:r>
              <a:rPr lang="en-US" sz="3200" dirty="0" smtClean="0"/>
              <a:t> which are nonprime are checked off in the process of combining terms so that the remaining terms are prime </a:t>
            </a:r>
            <a:r>
              <a:rPr lang="en-US" sz="3200" dirty="0" err="1" smtClean="0"/>
              <a:t>implicants</a:t>
            </a:r>
            <a:r>
              <a:rPr lang="en-US" sz="3200" dirty="0" smtClean="0"/>
              <a:t>.</a:t>
            </a:r>
            <a:endParaRPr lang="en-US" sz="32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360964" y="2124111"/>
            <a:ext cx="10991294" cy="1214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419579" y="3339037"/>
            <a:ext cx="10874064" cy="1294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63308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417095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Prime </a:t>
            </a:r>
            <a:r>
              <a:rPr lang="en-US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Implicant</a:t>
            </a:r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Chart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673769" y="1924193"/>
            <a:ext cx="10618862" cy="39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3600" b="1" dirty="0" smtClean="0"/>
              <a:t>Prime </a:t>
            </a:r>
            <a:r>
              <a:rPr lang="en-US" sz="3600" b="1" dirty="0" err="1" smtClean="0"/>
              <a:t>Implicant</a:t>
            </a:r>
            <a:r>
              <a:rPr lang="en-US" sz="3600" b="1" dirty="0" smtClean="0"/>
              <a:t> Chart:</a:t>
            </a:r>
          </a:p>
          <a:p>
            <a:pPr algn="just">
              <a:spcAft>
                <a:spcPts val="600"/>
              </a:spcAft>
            </a:pPr>
            <a:r>
              <a:rPr lang="en-US" sz="3200" dirty="0" smtClean="0"/>
              <a:t>The prime </a:t>
            </a:r>
            <a:r>
              <a:rPr lang="en-US" sz="3200" dirty="0" err="1" smtClean="0"/>
              <a:t>implicant</a:t>
            </a:r>
            <a:r>
              <a:rPr lang="en-US" sz="3200" dirty="0" smtClean="0"/>
              <a:t> chart can be used to select a minimum set of prime </a:t>
            </a:r>
            <a:r>
              <a:rPr lang="en-US" sz="3200" dirty="0" err="1" smtClean="0"/>
              <a:t>implicants</a:t>
            </a:r>
            <a:r>
              <a:rPr lang="en-US" sz="3200" dirty="0" smtClean="0"/>
              <a:t>. </a:t>
            </a:r>
          </a:p>
          <a:p>
            <a:pPr algn="just">
              <a:spcAft>
                <a:spcPts val="600"/>
              </a:spcAft>
            </a:pPr>
            <a:r>
              <a:rPr lang="en-US" sz="3200" dirty="0" smtClean="0"/>
              <a:t>The </a:t>
            </a:r>
            <a:r>
              <a:rPr lang="en-US" sz="3200" dirty="0" err="1" smtClean="0"/>
              <a:t>minterms</a:t>
            </a:r>
            <a:r>
              <a:rPr lang="en-US" sz="3200" dirty="0" smtClean="0"/>
              <a:t> of the function are listed across the top of the chart, and the prime </a:t>
            </a:r>
            <a:r>
              <a:rPr lang="en-US" sz="3200" dirty="0" err="1" smtClean="0"/>
              <a:t>implicants</a:t>
            </a:r>
            <a:r>
              <a:rPr lang="en-US" sz="3200" dirty="0" smtClean="0"/>
              <a:t> are listed down the side.</a:t>
            </a:r>
          </a:p>
          <a:p>
            <a:pPr algn="just"/>
            <a:r>
              <a:rPr lang="en-US" sz="3200" dirty="0" smtClean="0"/>
              <a:t>A prime </a:t>
            </a:r>
            <a:r>
              <a:rPr lang="en-US" sz="3200" dirty="0" err="1" smtClean="0"/>
              <a:t>implicant</a:t>
            </a:r>
            <a:r>
              <a:rPr lang="en-US" sz="3200" dirty="0" smtClean="0"/>
              <a:t> is equal to a sum of </a:t>
            </a:r>
            <a:r>
              <a:rPr lang="en-US" sz="3200" dirty="0" err="1" smtClean="0"/>
              <a:t>minterms</a:t>
            </a:r>
            <a:r>
              <a:rPr lang="en-US" sz="3200" dirty="0" smtClean="0"/>
              <a:t>, and the prime </a:t>
            </a:r>
            <a:r>
              <a:rPr lang="en-US" sz="3200" dirty="0" err="1" smtClean="0"/>
              <a:t>implicant</a:t>
            </a:r>
            <a:r>
              <a:rPr lang="en-US" sz="3200" dirty="0" smtClean="0"/>
              <a:t> is said to cover these </a:t>
            </a:r>
            <a:r>
              <a:rPr lang="en-US" sz="3200" dirty="0" err="1" smtClean="0"/>
              <a:t>minterms</a:t>
            </a:r>
            <a:r>
              <a:rPr lang="en-US" sz="3200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86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208547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Prime </a:t>
            </a:r>
            <a:r>
              <a:rPr lang="en-US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Implicant</a:t>
            </a:r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Chart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93558" y="1572127"/>
            <a:ext cx="10570736" cy="4951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3600" b="1" dirty="0" smtClean="0"/>
              <a:t>Prime </a:t>
            </a:r>
            <a:r>
              <a:rPr lang="en-US" sz="3600" b="1" dirty="0" err="1" smtClean="0"/>
              <a:t>Implicant</a:t>
            </a:r>
            <a:r>
              <a:rPr lang="en-US" sz="3600" b="1" dirty="0" smtClean="0"/>
              <a:t> Chart:</a:t>
            </a:r>
          </a:p>
          <a:p>
            <a:pPr algn="just">
              <a:spcAft>
                <a:spcPts val="600"/>
              </a:spcAft>
            </a:pPr>
            <a:r>
              <a:rPr lang="en-US" sz="3200" dirty="0" smtClean="0"/>
              <a:t>If a prime </a:t>
            </a:r>
            <a:r>
              <a:rPr lang="en-US" sz="3200" dirty="0" err="1" smtClean="0"/>
              <a:t>implicant</a:t>
            </a:r>
            <a:r>
              <a:rPr lang="en-US" sz="3200" dirty="0" smtClean="0"/>
              <a:t> covers a given </a:t>
            </a:r>
            <a:r>
              <a:rPr lang="en-US" sz="3200" dirty="0" err="1" smtClean="0"/>
              <a:t>minterm</a:t>
            </a:r>
            <a:r>
              <a:rPr lang="en-US" sz="3200" dirty="0" smtClean="0"/>
              <a:t>, an X is placed at the intersection of the corresponding row and column. </a:t>
            </a:r>
          </a:p>
          <a:p>
            <a:pPr algn="just">
              <a:spcAft>
                <a:spcPts val="600"/>
              </a:spcAft>
            </a:pPr>
            <a:r>
              <a:rPr lang="en-US" sz="3200" dirty="0" smtClean="0"/>
              <a:t>Table 6-2 shows the prime </a:t>
            </a:r>
            <a:r>
              <a:rPr lang="en-US" sz="3200" dirty="0" err="1" smtClean="0"/>
              <a:t>implicant</a:t>
            </a:r>
            <a:r>
              <a:rPr lang="en-US" sz="3200" dirty="0" smtClean="0"/>
              <a:t> chart derived from Table 6-1. All of the prime </a:t>
            </a:r>
            <a:r>
              <a:rPr lang="en-US" sz="3200" dirty="0" err="1" smtClean="0"/>
              <a:t>implicants</a:t>
            </a:r>
            <a:r>
              <a:rPr lang="en-US" sz="3200" dirty="0" smtClean="0"/>
              <a:t> (terms which have not been checked off in Table 6-1) are listed on the left.</a:t>
            </a:r>
          </a:p>
          <a:p>
            <a:pPr algn="just">
              <a:spcAft>
                <a:spcPts val="600"/>
              </a:spcAft>
            </a:pPr>
            <a:r>
              <a:rPr lang="en-US" sz="3200" dirty="0" smtClean="0"/>
              <a:t>If a given column contains only one X, then the corresponding row is an essential prime </a:t>
            </a:r>
            <a:r>
              <a:rPr lang="en-US" sz="3200" dirty="0" err="1" smtClean="0"/>
              <a:t>implicant</a:t>
            </a:r>
            <a:r>
              <a:rPr lang="en-US" sz="3200" dirty="0" smtClean="0"/>
              <a:t>.</a:t>
            </a:r>
          </a:p>
          <a:p>
            <a:pPr algn="just"/>
            <a:r>
              <a:rPr lang="en-US" sz="3200" dirty="0" smtClean="0"/>
              <a:t>See next slide for Table 6-2.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7378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152400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Prime </a:t>
            </a:r>
            <a:r>
              <a:rPr lang="en-US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Implicant</a:t>
            </a:r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Chart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457199" y="1507670"/>
            <a:ext cx="10707095" cy="53503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/>
              <a:t>Prime </a:t>
            </a:r>
            <a:r>
              <a:rPr lang="en-US" sz="3600" b="1" dirty="0" err="1" smtClean="0"/>
              <a:t>Implicant</a:t>
            </a:r>
            <a:r>
              <a:rPr lang="en-US" sz="3600" b="1" dirty="0" smtClean="0"/>
              <a:t> Chart:</a:t>
            </a:r>
            <a:endParaRPr lang="en-US" sz="36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199" y="2080890"/>
            <a:ext cx="10752212" cy="3966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7356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128337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Prime </a:t>
            </a:r>
            <a:r>
              <a:rPr lang="en-US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Implicant</a:t>
            </a:r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Chart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33927" y="1495640"/>
            <a:ext cx="10430367" cy="49212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3600" b="1" dirty="0" smtClean="0"/>
              <a:t>Prime </a:t>
            </a:r>
            <a:r>
              <a:rPr lang="en-US" sz="3600" b="1" dirty="0" err="1" smtClean="0"/>
              <a:t>Implicant</a:t>
            </a:r>
            <a:r>
              <a:rPr lang="en-US" sz="3600" b="1" dirty="0" smtClean="0"/>
              <a:t> Chart:</a:t>
            </a:r>
          </a:p>
          <a:p>
            <a:pPr algn="just">
              <a:spcAft>
                <a:spcPts val="600"/>
              </a:spcAft>
            </a:pPr>
            <a:r>
              <a:rPr lang="en-US" sz="3200" dirty="0" smtClean="0"/>
              <a:t>Each time a prime </a:t>
            </a:r>
            <a:r>
              <a:rPr lang="en-US" sz="3200" dirty="0" err="1" smtClean="0"/>
              <a:t>implicant</a:t>
            </a:r>
            <a:r>
              <a:rPr lang="en-US" sz="3200" dirty="0" smtClean="0"/>
              <a:t> is selected for inclusion in the minimum sum, the corresponding row should be crossed out. After doing this, the columns which correspond to all </a:t>
            </a:r>
            <a:r>
              <a:rPr lang="en-US" sz="3200" dirty="0" err="1" smtClean="0"/>
              <a:t>minterms</a:t>
            </a:r>
            <a:r>
              <a:rPr lang="en-US" sz="3200" dirty="0" smtClean="0"/>
              <a:t> covered by that prime </a:t>
            </a:r>
            <a:r>
              <a:rPr lang="en-US" sz="3200" dirty="0" err="1" smtClean="0"/>
              <a:t>implicant</a:t>
            </a:r>
            <a:r>
              <a:rPr lang="en-US" sz="3200" dirty="0" smtClean="0"/>
              <a:t> should also be crossed out.</a:t>
            </a:r>
          </a:p>
          <a:p>
            <a:pPr algn="just"/>
            <a:r>
              <a:rPr lang="en-US" sz="3200" dirty="0" smtClean="0"/>
              <a:t>Table 6-3 shows the resulting chart when the essential prime </a:t>
            </a:r>
            <a:r>
              <a:rPr lang="en-US" sz="3200" dirty="0" err="1" smtClean="0"/>
              <a:t>implicants</a:t>
            </a:r>
            <a:r>
              <a:rPr lang="en-US" sz="3200" dirty="0" smtClean="0"/>
              <a:t> and the corresponding rows and columns of Table 6-2 are crossed out.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90877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12295" y="334879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Prime </a:t>
            </a:r>
            <a:r>
              <a:rPr lang="en-US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Implicant</a:t>
            </a:r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Chart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33400" y="1556084"/>
            <a:ext cx="10478494" cy="5301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/>
              <a:t>Prime </a:t>
            </a:r>
            <a:r>
              <a:rPr lang="en-US" sz="3600" b="1" dirty="0" err="1" smtClean="0"/>
              <a:t>Implicant</a:t>
            </a:r>
            <a:r>
              <a:rPr lang="en-US" sz="3600" b="1" dirty="0" smtClean="0"/>
              <a:t> Chart:</a:t>
            </a:r>
            <a:endParaRPr lang="en-US" sz="36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516629"/>
            <a:ext cx="11164294" cy="357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717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48" y="190500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Prime </a:t>
            </a:r>
            <a:r>
              <a:rPr lang="en-US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Implicant</a:t>
            </a:r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Chart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685799" y="1366300"/>
            <a:ext cx="10478494" cy="47938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/>
              <a:t>Example 1:</a:t>
            </a:r>
            <a:endParaRPr lang="en-US" sz="36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7829" y="1925053"/>
            <a:ext cx="10666464" cy="4932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1808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114301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Prime </a:t>
            </a:r>
            <a:r>
              <a:rPr lang="en-US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Implicant</a:t>
            </a:r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Chart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401053" y="1464551"/>
            <a:ext cx="10763241" cy="48106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/>
              <a:t>Example  1 (continued):</a:t>
            </a:r>
            <a:endParaRPr lang="en-US" sz="36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964217"/>
            <a:ext cx="11164294" cy="4751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569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228600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Prime </a:t>
            </a:r>
            <a:r>
              <a:rPr lang="en-US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Implicant</a:t>
            </a:r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Chart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381000" y="1248291"/>
            <a:ext cx="10783294" cy="53530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/>
              <a:t>Example 1 (continued):</a:t>
            </a:r>
            <a:endParaRPr lang="en-US" sz="36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8549" y="1798644"/>
            <a:ext cx="10228501" cy="5059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1839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152400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Petrick’s</a:t>
            </a:r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Method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33399" y="1491917"/>
            <a:ext cx="10630895" cy="52237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/>
              <a:t>General procedure:</a:t>
            </a:r>
          </a:p>
          <a:p>
            <a:endParaRPr lang="en-US" sz="36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3198" y="2233055"/>
            <a:ext cx="10701096" cy="3741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747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224589"/>
            <a:ext cx="11847656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Petrick’s</a:t>
            </a:r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Method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684581" y="1680411"/>
            <a:ext cx="10478493" cy="39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/>
              <a:t>General procedure (continued):</a:t>
            </a:r>
          </a:p>
          <a:p>
            <a:endParaRPr lang="en-US" sz="22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685799" y="2476136"/>
            <a:ext cx="10478494" cy="3860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7299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288759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Simplification of Incompletely Specified Functions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88536" y="1626706"/>
            <a:ext cx="10736179" cy="46484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3600" b="1" dirty="0" smtClean="0"/>
              <a:t>Handling “Don’t Cares”:</a:t>
            </a:r>
          </a:p>
          <a:p>
            <a:pPr algn="just">
              <a:spcAft>
                <a:spcPts val="600"/>
              </a:spcAft>
            </a:pPr>
            <a:r>
              <a:rPr lang="en-US" sz="3200" dirty="0" smtClean="0"/>
              <a:t>In this section, we will show how to modify the Quine-</a:t>
            </a:r>
            <a:r>
              <a:rPr lang="en-US" sz="3200" dirty="0" err="1" smtClean="0"/>
              <a:t>McCluskey</a:t>
            </a:r>
            <a:r>
              <a:rPr lang="en-US" sz="3200" dirty="0" smtClean="0"/>
              <a:t> method in order to obtain a minimum solution when don’t-care terms are present. </a:t>
            </a:r>
          </a:p>
          <a:p>
            <a:pPr algn="just">
              <a:spcAft>
                <a:spcPts val="600"/>
              </a:spcAft>
            </a:pPr>
            <a:r>
              <a:rPr lang="en-US" sz="3200" dirty="0" smtClean="0"/>
              <a:t>In the process of finding the prime </a:t>
            </a:r>
            <a:r>
              <a:rPr lang="en-US" sz="3200" dirty="0" err="1" smtClean="0"/>
              <a:t>implicants</a:t>
            </a:r>
            <a:r>
              <a:rPr lang="en-US" sz="3200" dirty="0" smtClean="0"/>
              <a:t>, we will treat the don’t-care terms as if they were required </a:t>
            </a:r>
            <a:r>
              <a:rPr lang="en-US" sz="3200" dirty="0" err="1" smtClean="0"/>
              <a:t>minterms</a:t>
            </a:r>
            <a:r>
              <a:rPr lang="en-US" sz="3200" dirty="0" smtClean="0"/>
              <a:t>.</a:t>
            </a:r>
          </a:p>
          <a:p>
            <a:pPr algn="just"/>
            <a:r>
              <a:rPr lang="en-US" sz="3200" dirty="0" smtClean="0"/>
              <a:t>When forming the prime </a:t>
            </a:r>
            <a:r>
              <a:rPr lang="en-US" sz="3200" dirty="0" err="1" smtClean="0"/>
              <a:t>implicant</a:t>
            </a:r>
            <a:r>
              <a:rPr lang="en-US" sz="3200" dirty="0" smtClean="0"/>
              <a:t> chart, the “don’t cares” are not</a:t>
            </a:r>
            <a:r>
              <a:rPr lang="en-US" sz="3200" i="1" dirty="0" smtClean="0"/>
              <a:t> </a:t>
            </a:r>
            <a:r>
              <a:rPr lang="en-US" sz="3200" dirty="0" smtClean="0"/>
              <a:t>listed at the top.</a:t>
            </a:r>
          </a:p>
          <a:p>
            <a:pPr marL="342900" indent="-342900"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209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573505" y="1410057"/>
            <a:ext cx="10478494" cy="53652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/>
              <a:t>Example 2:</a:t>
            </a:r>
          </a:p>
          <a:p>
            <a:pPr marL="342900" indent="-342900"/>
            <a:endParaRPr lang="en-US" sz="36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923673" y="1551583"/>
            <a:ext cx="7776411" cy="5306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0" y="288759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Simplification of Incompletely Specified Functions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8712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363317" y="1464551"/>
            <a:ext cx="10800977" cy="48106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/>
              <a:t>Example 2 (continued):</a:t>
            </a:r>
            <a:endParaRPr lang="en-US" sz="3600" dirty="0" smtClean="0"/>
          </a:p>
          <a:p>
            <a:pPr marL="342900" indent="-342900"/>
            <a:endParaRPr lang="en-US" sz="36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b="60449"/>
          <a:stretch>
            <a:fillRect/>
          </a:stretch>
        </p:blipFill>
        <p:spPr bwMode="auto">
          <a:xfrm>
            <a:off x="40726" y="1996853"/>
            <a:ext cx="11123568" cy="405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88759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Simplification of Incompletely Specified Functions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5872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685800" y="1423737"/>
            <a:ext cx="10478494" cy="48106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/>
              <a:t>Example 2 (continued):</a:t>
            </a:r>
            <a:endParaRPr lang="en-US" sz="3600" dirty="0" smtClean="0"/>
          </a:p>
          <a:p>
            <a:pPr marL="342900" indent="-342900"/>
            <a:endParaRPr lang="en-US" sz="36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t="37753"/>
          <a:stretch>
            <a:fillRect/>
          </a:stretch>
        </p:blipFill>
        <p:spPr bwMode="auto">
          <a:xfrm>
            <a:off x="332873" y="1887026"/>
            <a:ext cx="10623885" cy="4970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288759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Simplification of Incompletely Specified Functions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763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272716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Simplification Using Map-Entered Variables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352926" y="1263316"/>
            <a:ext cx="10811368" cy="5731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 smtClean="0"/>
              <a:t>By using map-entered variables, </a:t>
            </a:r>
            <a:r>
              <a:rPr lang="en-US" sz="3200" dirty="0" err="1" smtClean="0"/>
              <a:t>Karnaugh</a:t>
            </a:r>
            <a:r>
              <a:rPr lang="en-US" sz="3200" dirty="0" smtClean="0"/>
              <a:t> map techniques can be extended to simplify functions with more than four or five variables. </a:t>
            </a:r>
          </a:p>
          <a:p>
            <a:pPr algn="just"/>
            <a:r>
              <a:rPr lang="en-US" sz="3200" dirty="0" smtClean="0"/>
              <a:t>Figure 6-1(a) shows a four-variable map with two additional variables entered in the squares in the map.</a:t>
            </a:r>
            <a:endParaRPr lang="en-US" sz="32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333" y="3561347"/>
            <a:ext cx="10146839" cy="3296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079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493294" y="1916231"/>
            <a:ext cx="10671000" cy="46582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0"/>
              </a:spcAft>
              <a:buNone/>
            </a:pPr>
            <a:r>
              <a:rPr lang="en-US" sz="3200" dirty="0" smtClean="0"/>
              <a:t>When E appears in a square, this means that if E=1, the corresponding </a:t>
            </a:r>
            <a:r>
              <a:rPr lang="en-US" sz="3200" dirty="0" err="1" smtClean="0"/>
              <a:t>minterm</a:t>
            </a:r>
            <a:r>
              <a:rPr lang="en-US" sz="3200" dirty="0" smtClean="0"/>
              <a:t> is present in the function G, and if E=0, the </a:t>
            </a:r>
            <a:r>
              <a:rPr lang="en-US" sz="3200" dirty="0" err="1" smtClean="0"/>
              <a:t>minterm</a:t>
            </a:r>
            <a:r>
              <a:rPr lang="en-US" sz="3200" dirty="0" smtClean="0"/>
              <a:t> is absent. Thus the map represents the six-variable function</a:t>
            </a:r>
          </a:p>
          <a:p>
            <a:pPr marL="0" indent="0" algn="just">
              <a:buNone/>
            </a:pPr>
            <a:endParaRPr lang="en-US" sz="3200" dirty="0" smtClean="0"/>
          </a:p>
          <a:p>
            <a:pPr marL="0" indent="0" algn="just">
              <a:buNone/>
            </a:pPr>
            <a:r>
              <a:rPr lang="en-US" sz="3200" dirty="0" smtClean="0"/>
              <a:t>where the </a:t>
            </a:r>
            <a:r>
              <a:rPr lang="en-US" sz="3200" dirty="0" err="1" smtClean="0"/>
              <a:t>minterms</a:t>
            </a:r>
            <a:r>
              <a:rPr lang="en-US" sz="3200" dirty="0" smtClean="0"/>
              <a:t> are the </a:t>
            </a:r>
            <a:r>
              <a:rPr lang="en-US" sz="3200" dirty="0" err="1" smtClean="0"/>
              <a:t>minterms</a:t>
            </a:r>
            <a:r>
              <a:rPr lang="en-US" sz="3200" dirty="0" smtClean="0"/>
              <a:t> of variables A,B,C, and D. Note that m</a:t>
            </a:r>
            <a:r>
              <a:rPr lang="en-US" sz="3200" baseline="-25000" dirty="0" smtClean="0"/>
              <a:t>9</a:t>
            </a:r>
            <a:r>
              <a:rPr lang="en-US" sz="3200" dirty="0" smtClean="0"/>
              <a:t> is only present in G when F=1. </a:t>
            </a:r>
            <a:endParaRPr lang="en-US" sz="32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9092" y="3826270"/>
            <a:ext cx="11279404" cy="1121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0" y="272716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Simplification Using Map-Entered Variables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6512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8" name="Subtitle 2"/>
          <p:cNvSpPr txBox="1">
            <a:spLocks/>
          </p:cNvSpPr>
          <p:nvPr/>
        </p:nvSpPr>
        <p:spPr>
          <a:xfrm>
            <a:off x="685800" y="1491917"/>
            <a:ext cx="10478494" cy="52237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400"/>
              </a:spcAft>
              <a:buNone/>
            </a:pPr>
            <a:r>
              <a:rPr lang="en-US" sz="2100" dirty="0" smtClean="0"/>
              <a:t>To simplify the following function,</a:t>
            </a:r>
          </a:p>
          <a:p>
            <a:pPr>
              <a:buFont typeface="Wingdings" pitchFamily="2" charset="2"/>
              <a:buChar char="v"/>
            </a:pPr>
            <a:endParaRPr lang="en-US" sz="2100" dirty="0" smtClean="0"/>
          </a:p>
          <a:p>
            <a:pPr marL="0" indent="0">
              <a:buNone/>
            </a:pPr>
            <a:r>
              <a:rPr lang="en-US" sz="2100" dirty="0" smtClean="0"/>
              <a:t>D is chosen as the map-entered variable. See page 183 for further explanation.</a:t>
            </a:r>
            <a:endParaRPr lang="en-US" sz="2100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9667" y="3128860"/>
            <a:ext cx="10884627" cy="3729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014663" y="1876926"/>
            <a:ext cx="9047236" cy="609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72716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Simplification Using Map-Entered Variables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9526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352926" y="1490707"/>
            <a:ext cx="11839074" cy="48106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/>
              <a:t>General Method of Simplifying Expressions Using Map-Entered Variables:</a:t>
            </a:r>
            <a:endParaRPr lang="en-US" sz="3200" b="1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8736" y="2498296"/>
            <a:ext cx="9633285" cy="279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 cstate="print"/>
          <a:srcRect t="21379"/>
          <a:stretch>
            <a:fillRect/>
          </a:stretch>
        </p:blipFill>
        <p:spPr bwMode="auto">
          <a:xfrm>
            <a:off x="189020" y="5108741"/>
            <a:ext cx="10832398" cy="160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0" y="272716"/>
            <a:ext cx="12192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Simplification Using Map-Entered Variables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8796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Homework</a:t>
            </a:r>
            <a:endParaRPr lang="en-CA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Please solve the following problems:</a:t>
            </a:r>
          </a:p>
          <a:p>
            <a:pPr marL="0" indent="0">
              <a:buNone/>
            </a:pPr>
            <a:r>
              <a:rPr lang="en-CA" dirty="0" smtClean="0"/>
              <a:t>6.2, 6.4, 6.5, 6.6, 6.9, 6.11, 6.16, 6.21, 6.22, 6.25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 smtClean="0"/>
              <a:t> Kindly, read chapter 6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294" y="5834743"/>
            <a:ext cx="884830" cy="88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20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966</Words>
  <Application>Microsoft Office PowerPoint</Application>
  <PresentationFormat>Widescreen</PresentationFormat>
  <Paragraphs>103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Times New Roman</vt:lpstr>
      <vt:lpstr>Verdana</vt:lpstr>
      <vt:lpstr>Wingdings</vt:lpstr>
      <vt:lpstr>Office Theme</vt:lpstr>
      <vt:lpstr>Fundamental Logic Design  Chapter 6: Quine-McCluskey Method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Homework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 Logic Design  Chapter 6: Quine-McCluskey Method   </dc:title>
  <dc:creator>Servant of Allah</dc:creator>
  <cp:lastModifiedBy>Servant of Allah</cp:lastModifiedBy>
  <cp:revision>24</cp:revision>
  <dcterms:created xsi:type="dcterms:W3CDTF">2018-03-19T18:11:11Z</dcterms:created>
  <dcterms:modified xsi:type="dcterms:W3CDTF">2018-03-19T20:36:18Z</dcterms:modified>
</cp:coreProperties>
</file>